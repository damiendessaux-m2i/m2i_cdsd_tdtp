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C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E1C33"/>
                </a:solidFill>
                <a:latin typeface="Arial"/>
              </a:rPr>
              <a:t>Évolution Recall sur 6 mois en production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FF6B6B"/>
            </a:solidFill>
            <a:ln w="38100" cap="flat">
              <a:solidFill>
                <a:srgbClr val="FF6B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68</c:v>
                </c:pt>
                <c:pt idx="2">
                  <c:v>71</c:v>
                </c:pt>
                <c:pt idx="3">
                  <c:v>73</c:v>
                </c:pt>
                <c:pt idx="4">
                  <c:v>71</c:v>
                </c:pt>
                <c:pt idx="5">
                  <c:v>71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54864" cy="182880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• C6 RNCP • 22 octobre 2025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Anti-churn premium — soutenance C6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nous avons appris à parler de KPIs au COMEX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Kassemi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Sponsor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Lefèvre (Marketing)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Verlaine • Utopios — MA-IT Consulting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CONTEXTE &amp; PROBLÉMATIQUE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métier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M€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annuelle sur clientes premium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 Verlaine perd 12 % de ses 30 000 clientes premium chaque année. 1,8 M€ de revenus récurrents disparaissent sans signal préalable. Les conseillères des 5 boutiques pilotes n'ont aucun outil pour détecter À TEMPS — 2 à 3 mois avant la rupture.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371600"/>
            <a:ext cx="73152" cy="3291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data SMART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"Pour chaque cliente premium, prédire la probabilité d'absence d'achat sur 9 mois, à partir de 24 mois CRM Salesforce + Cegid, avec score actualisé à T+24h."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C6.1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520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validation brief reformulé : 100 % (cible ≥ 75 %)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alignement objectifs : 5 % (cible ≤ 10 %)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Anti-churn Verlaine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STACK TECHNIQUE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choix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RETENU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4,75 / 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Explicabilité par cliente. RGPD art. 22 couvert. Open source mature.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508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 / 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286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ancien (2016). Moins théorique. Convient en démo, pas en production.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37160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508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natif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8076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 / 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2286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globale uniquement. Insuffisant pour l'usage conseillère.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C6.2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technologies évaluées (cible ≥ 3)    </a:t>
            </a:r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adéquation contraintes (cible ≥ 90 %)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Anti-churn Verlaine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CADRAGE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et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73152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S1-S2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21408" y="1463040"/>
            <a:ext cx="1554480" cy="7315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408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21408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S2-S3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85616" y="1463040"/>
            <a:ext cx="1554480" cy="731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85616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S3-S4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9824" y="1463040"/>
            <a:ext cx="1554480" cy="7315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9824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9824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S5-S6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14032" y="1463040"/>
            <a:ext cx="1554480" cy="7315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14032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S7-S12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 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k€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9436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+ phase 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65176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aléas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33756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intégrée dès le cadrage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265176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vs cible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-0,7 %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08076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(cible ± 10 %)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C6.3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Rétroplanning : 100 %    </a:t>
            </a:r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budget : -0,7 %    </a:t>
            </a:r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 CDC : 100 %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Anti-churn Verlaine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MODÈLE &amp;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sait faire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292608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0" y="1371600"/>
            <a:ext cx="73152" cy="3291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43600" y="2468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≥ 70 %  ✓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43600" y="3337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≥ 25 %  ✓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scores ignorés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943600" y="4206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15 % (hors art. 22)  ✓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Anti-churn Verlaine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SUIVI &amp; CONFORMITÉ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et RGPD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données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0604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 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96,3 %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résiduels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features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260604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1828800"/>
            <a:ext cx="260604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AIPD signée DPO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accès moyen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jours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756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pseudo.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0" y="1371600"/>
            <a:ext cx="2606040" cy="45720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suivi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1828800"/>
            <a:ext cx="260604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Rafraîchissement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Hebdo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80760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M+3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8076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budget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C6.4 (extrait — bloc le plus riche)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Anti-churn Verlaine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VULGARISATION &amp; ADOPTION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cela a été reçu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SATISFACTION POST-RESTITUTION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 / 5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≥ 4 / 5    •    n = 8 destinataires note 2p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note était claire, pas de jargon, et le ROI était parlant. C'est exactement ce qu'il nous fallait pour le board." — Caroline Marchand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À M+1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76 %</a:t>
            </a:r>
            <a:endParaRPr lang="en-US" sz="8400" dirty="0"/>
          </a:p>
        </p:txBody>
      </p:sp>
      <p:sp>
        <p:nvSpPr>
          <p:cNvPr id="12" name="Text 10"/>
          <p:cNvSpPr/>
          <p:nvPr/>
        </p:nvSpPr>
        <p:spPr>
          <a:xfrm>
            <a:off x="502920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≥ 70 %    •    38 conseillères pilotes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657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de mesure : enquête + relance personnelle + logs outil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Anti-churn Verlaine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PILOTAGE GLOBAL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anticipés vs matérialisés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41148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AIPD pas signée à temps COMEX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 briefé tôt · finalisée 28/03 · signée 31/03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 Recall/Précision en COMEX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MATÉRIALISÉ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Décrochage 4 min identifié · note 2 pages préparée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Conseillères rejettent l'outil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Camille ambassadrice · adoption 76 % à M+1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Cohorte &lt; 30 ans drift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MATÉRIALISÉ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Détecté septembre · re-entraînement janvier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Caroline change priorité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démontré dès phase 1 · alignée jusqu'à fin 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Anti-churn Verlaine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PHRASE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avons construit un outil qui aide les conseillères à retenir les clientes premium avant qu'elles ne partent — et nous l'avons fait en un trimestre, en respectant le budget, le RGPD et le calendrier.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k€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+ 2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3291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k€-1 M€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0" y="3931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estimé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12 mois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3291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mois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0" y="3931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Anti-churn Verlaine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SYNTHÈSE KPIs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C6.1 → C6.6 : 13 KPIs choisis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3291840"/>
        </p:xfrm>
        <a:graphic>
          <a:graphicData uri="http://schemas.openxmlformats.org/drawingml/2006/table">
            <a:tbl>
              <a:tblPr/>
              <a:tblGrid>
                <a:gridCol w="640080"/>
                <a:gridCol w="4114800"/>
                <a:gridCol w="1371600"/>
                <a:gridCol w="1280160"/>
                <a:gridCol w="100584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choisi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Réalisé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validation brief reformulé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alignement objectifs/livrables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Adéquation solution / contraintes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respect rétroplanning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budgétaire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-0,7 %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Complétude CDC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modèle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scores ignorés (hors art. 22)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15 %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 réponse demandes RGPD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94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satisfaction restitution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 /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M+1 conseillères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Avancement réel vs planifié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Livrables acceptés sans réserve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Anti-churn Verlaine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3DFD369A1AAC44894D14194C7688E9" ma:contentTypeVersion="11" ma:contentTypeDescription="Crée un document." ma:contentTypeScope="" ma:versionID="cf49c3de8148c8cc546756f07c645c21">
  <xsd:schema xmlns:xsd="http://www.w3.org/2001/XMLSchema" xmlns:xs="http://www.w3.org/2001/XMLSchema" xmlns:p="http://schemas.microsoft.com/office/2006/metadata/properties" xmlns:ns2="3c2bf3aa-a91c-4b6f-b8ca-d89e5279fe2a" xmlns:ns3="e425dd83-799c-4ff9-a9a6-f6a8064637e1" targetNamespace="http://schemas.microsoft.com/office/2006/metadata/properties" ma:root="true" ma:fieldsID="175034be094e24b6f4ed2934660117f3" ns2:_="" ns3:_="">
    <xsd:import namespace="3c2bf3aa-a91c-4b6f-b8ca-d89e5279fe2a"/>
    <xsd:import namespace="e425dd83-799c-4ff9-a9a6-f6a8064637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2bf3aa-a91c-4b6f-b8ca-d89e5279fe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d4b6e4fd-4af2-4f07-b7d1-18266e5856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25dd83-799c-4ff9-a9a6-f6a8064637e1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5186b3eb-60d2-4154-b03c-a4c7679995e8}" ma:internalName="TaxCatchAll" ma:showField="CatchAllData" ma:web="e425dd83-799c-4ff9-a9a6-f6a8064637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c2bf3aa-a91c-4b6f-b8ca-d89e5279fe2a">
      <Terms xmlns="http://schemas.microsoft.com/office/infopath/2007/PartnerControls"/>
    </lcf76f155ced4ddcb4097134ff3c332f>
    <TaxCatchAll xmlns="e425dd83-799c-4ff9-a9a6-f6a8064637e1" xsi:nil="true"/>
  </documentManagement>
</p:properties>
</file>

<file path=customXml/itemProps1.xml><?xml version="1.0" encoding="utf-8"?>
<ds:datastoreItem xmlns:ds="http://schemas.openxmlformats.org/officeDocument/2006/customXml" ds:itemID="{58EA26E4-D5DC-4423-A0CA-A7F4DAB57B8C}"/>
</file>

<file path=customXml/itemProps2.xml><?xml version="1.0" encoding="utf-8"?>
<ds:datastoreItem xmlns:ds="http://schemas.openxmlformats.org/officeDocument/2006/customXml" ds:itemID="{E4350FCC-17A4-435A-B8DC-182D6C633DD5}"/>
</file>

<file path=customXml/itemProps3.xml><?xml version="1.0" encoding="utf-8"?>
<ds:datastoreItem xmlns:ds="http://schemas.openxmlformats.org/officeDocument/2006/customXml" ds:itemID="{50463F2D-222C-4942-94A2-71B98F52FB2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Anti-churn premium — soutenance C6</dc:title>
  <dc:subject>PptxGenJS Presentation</dc:subject>
  <dc:creator>Utopios — MA-IT Consulting</dc:creator>
  <cp:lastModifiedBy>Utopios — MA-IT Consulting</cp:lastModifiedBy>
  <cp:revision>1</cp:revision>
  <dcterms:created xsi:type="dcterms:W3CDTF">2026-05-10T16:29:09Z</dcterms:created>
  <dcterms:modified xsi:type="dcterms:W3CDTF">2026-05-10T16:29:09Z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0x010100913DFD369A1AAC44894D14194C7688E9</vt:lpwstr>
  </property>
</Properties>
</file>